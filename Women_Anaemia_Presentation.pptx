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ase Study" id="{7907BA79-47A9-4F75-B8C3-06A3E1BB7DA3}">
          <p14:sldIdLst>
            <p14:sldId id="256"/>
            <p14:sldId id="257"/>
            <p14:sldId id="258"/>
            <p14:sldId id="259"/>
            <p14:sldId id="260"/>
            <p14:sldId id="261"/>
            <p14:sldId id="262"/>
            <p14:sldId id="263"/>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59" d="100"/>
          <a:sy n="59" d="100"/>
        </p:scale>
        <p:origin x="84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F2937"/>
                </a:solidFill>
                <a:latin typeface="Arial"/>
              </a:defRPr>
            </a:pPr>
            <a:r>
              <a:rPr sz="1200" b="0" i="0" u="none" strike="noStrike">
                <a:solidFill>
                  <a:srgbClr val="1F2937"/>
                </a:solidFill>
                <a:latin typeface="Arial"/>
              </a:rPr>
              <a:t>Women with anemia by wealth group</a:t>
            </a:r>
          </a:p>
        </c:rich>
      </c:tx>
      <c:overlay val="0"/>
    </c:title>
    <c:autoTitleDeleted val="0"/>
    <c:plotArea>
      <c:layout/>
      <c:barChart>
        <c:barDir val="col"/>
        <c:grouping val="clustered"/>
        <c:varyColors val="0"/>
        <c:ser>
          <c:idx val="0"/>
          <c:order val="0"/>
          <c:tx>
            <c:strRef>
              <c:f>Sheet1!$B$1</c:f>
              <c:strCache>
                <c:ptCount val="1"/>
                <c:pt idx="0">
                  <c:v>Women</c:v>
                </c:pt>
              </c:strCache>
            </c:strRef>
          </c:tx>
          <c:spPr>
            <a:solidFill>
              <a:srgbClr val="1E88E5"/>
            </a:solidFill>
            <a:effectLst/>
          </c:spPr>
          <c:invertIfNegative val="0"/>
          <c:dLbls>
            <c:numFmt formatCode="#,##0" sourceLinked="0"/>
            <c:spPr>
              <a:noFill/>
              <a:ln>
                <a:noFill/>
              </a:ln>
              <a:effectLst/>
            </c:spPr>
            <c:txPr>
              <a:bodyPr/>
              <a:lstStyle/>
              <a:p>
                <a:pPr>
                  <a:defRPr sz="10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Poorest</c:v>
                </c:pt>
                <c:pt idx="1">
                  <c:v>Poorer</c:v>
                </c:pt>
                <c:pt idx="2">
                  <c:v>Middle</c:v>
                </c:pt>
                <c:pt idx="3">
                  <c:v>Richer</c:v>
                </c:pt>
                <c:pt idx="4">
                  <c:v>Richest</c:v>
                </c:pt>
              </c:strCache>
            </c:strRef>
          </c:cat>
          <c:val>
            <c:numRef>
              <c:f>Sheet1!$B$2:$B$6</c:f>
              <c:numCache>
                <c:formatCode>General</c:formatCode>
                <c:ptCount val="5"/>
                <c:pt idx="0">
                  <c:v>1089</c:v>
                </c:pt>
                <c:pt idx="1">
                  <c:v>966</c:v>
                </c:pt>
                <c:pt idx="2">
                  <c:v>962</c:v>
                </c:pt>
                <c:pt idx="3">
                  <c:v>882</c:v>
                </c:pt>
                <c:pt idx="4">
                  <c:v>516</c:v>
                </c:pt>
              </c:numCache>
            </c:numRef>
          </c:val>
          <c:extLst>
            <c:ext xmlns:c16="http://schemas.microsoft.com/office/drawing/2014/chart" uri="{C3380CC4-5D6E-409C-BE32-E72D297353CC}">
              <c16:uniqueId val="{00000000-88CE-4F5B-9D9C-034A3AE31C1E}"/>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000000"/>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F2937"/>
                </a:solidFill>
                <a:latin typeface="Arial"/>
              </a:defRPr>
            </a:pPr>
            <a:r>
              <a:rPr sz="1200" b="0" i="0" u="none" strike="noStrike">
                <a:solidFill>
                  <a:srgbClr val="1F2937"/>
                </a:solidFill>
                <a:latin typeface="Arial"/>
              </a:rPr>
              <a:t>Taking iron pills (% of each wealth group)</a:t>
            </a:r>
          </a:p>
        </c:rich>
      </c:tx>
      <c:overlay val="0"/>
    </c:title>
    <c:autoTitleDeleted val="0"/>
    <c:plotArea>
      <c:layout/>
      <c:barChart>
        <c:barDir val="col"/>
        <c:grouping val="clustered"/>
        <c:varyColors val="0"/>
        <c:ser>
          <c:idx val="0"/>
          <c:order val="0"/>
          <c:tx>
            <c:strRef>
              <c:f>Sheet1!$B$1</c:f>
              <c:strCache>
                <c:ptCount val="1"/>
                <c:pt idx="0">
                  <c:v>Iron</c:v>
                </c:pt>
              </c:strCache>
            </c:strRef>
          </c:tx>
          <c:spPr>
            <a:solidFill>
              <a:srgbClr val="8B1A2B"/>
            </a:solidFill>
            <a:effectLst/>
          </c:spPr>
          <c:invertIfNegative val="0"/>
          <c:dLbls>
            <c:numFmt formatCode="0.0" sourceLinked="0"/>
            <c:spPr>
              <a:noFill/>
              <a:ln>
                <a:noFill/>
              </a:ln>
              <a:effectLst/>
            </c:spPr>
            <c:txPr>
              <a:bodyPr/>
              <a:lstStyle/>
              <a:p>
                <a:pPr>
                  <a:defRPr sz="10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Poorest</c:v>
                </c:pt>
                <c:pt idx="1">
                  <c:v>Poorer</c:v>
                </c:pt>
                <c:pt idx="2">
                  <c:v>Middle</c:v>
                </c:pt>
                <c:pt idx="3">
                  <c:v>Richer</c:v>
                </c:pt>
                <c:pt idx="4">
                  <c:v>Richest</c:v>
                </c:pt>
              </c:strCache>
            </c:strRef>
          </c:cat>
          <c:val>
            <c:numRef>
              <c:f>Sheet1!$B$2:$B$6</c:f>
              <c:numCache>
                <c:formatCode>General</c:formatCode>
                <c:ptCount val="5"/>
                <c:pt idx="0">
                  <c:v>10.8</c:v>
                </c:pt>
                <c:pt idx="1">
                  <c:v>12.4</c:v>
                </c:pt>
                <c:pt idx="2">
                  <c:v>20.7</c:v>
                </c:pt>
                <c:pt idx="3">
                  <c:v>27.2</c:v>
                </c:pt>
                <c:pt idx="4">
                  <c:v>28.5</c:v>
                </c:pt>
              </c:numCache>
            </c:numRef>
          </c:val>
          <c:extLst>
            <c:ext xmlns:c16="http://schemas.microsoft.com/office/drawing/2014/chart" uri="{C3380CC4-5D6E-409C-BE32-E72D297353CC}">
              <c16:uniqueId val="{00000000-6B4E-4B10-AC05-A1AA252D0C14}"/>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000000"/>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068643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chemeClr val="accent1"/>
          </a:solidFill>
          <a:ln/>
        </p:spPr>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1"/>
                </a:solidFill>
              </a:defRPr>
            </a:lvl1pPr>
          </a:lstStyle>
          <a:p>
            <a:pPr algn="l"/>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1"/>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chart" Target="../charts/char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0" y="0"/>
            <a:ext cx="6858000" cy="0"/>
          </a:xfrm>
          <a:prstGeom prst="rect">
            <a:avLst/>
          </a:prstGeom>
          <a:noFill/>
          <a:ln/>
        </p:spPr>
        <p:txBody>
          <a:bodyPr wrap="square" rtlCol="0"/>
          <a:lstStyle/>
          <a:p>
            <a:pPr marL="0" indent="0">
              <a:buNone/>
            </a:pPr>
            <a:r>
              <a:rPr lang="en-US" dirty="0"/>
              <a:t>Women's Anemia in Nigeria</a:t>
            </a:r>
          </a:p>
        </p:txBody>
      </p:sp>
      <p:sp>
        <p:nvSpPr>
          <p:cNvPr id="3" name="Text 1"/>
          <p:cNvSpPr txBox="1"/>
          <p:nvPr/>
        </p:nvSpPr>
        <p:spPr>
          <a:xfrm>
            <a:off x="640080" y="1920240"/>
            <a:ext cx="7863840" cy="365760"/>
          </a:xfrm>
          <a:prstGeom prst="rect">
            <a:avLst/>
          </a:prstGeom>
          <a:noFill/>
          <a:ln/>
        </p:spPr>
        <p:txBody>
          <a:bodyPr wrap="square" lIns="0" tIns="0" rIns="0" bIns="0" rtlCol="0" anchor="ctr"/>
          <a:lstStyle/>
          <a:p>
            <a:pPr marL="0" indent="0">
              <a:buNone/>
            </a:pPr>
            <a:r>
              <a:rPr lang="en-US" sz="2000" dirty="0">
                <a:solidFill>
                  <a:schemeClr val="bg1"/>
                </a:solidFill>
              </a:rPr>
              <a:t>2018 NDHS Case Study</a:t>
            </a:r>
            <a:endParaRPr lang="en-US" sz="2000" dirty="0"/>
          </a:p>
        </p:txBody>
      </p:sp>
      <p:sp>
        <p:nvSpPr>
          <p:cNvPr id="4" name="Text 2"/>
          <p:cNvSpPr txBox="1"/>
          <p:nvPr/>
        </p:nvSpPr>
        <p:spPr>
          <a:xfrm>
            <a:off x="640080" y="2331720"/>
            <a:ext cx="7863840" cy="320040"/>
          </a:xfrm>
          <a:prstGeom prst="rect">
            <a:avLst/>
          </a:prstGeom>
          <a:noFill/>
          <a:ln/>
        </p:spPr>
        <p:txBody>
          <a:bodyPr wrap="square" lIns="0" tIns="0" rIns="0" bIns="0" rtlCol="0" anchor="ctr"/>
          <a:lstStyle/>
          <a:p>
            <a:pPr marL="0" indent="0">
              <a:buNone/>
            </a:pPr>
            <a:r>
              <a:rPr lang="en-US" sz="1400" dirty="0">
                <a:solidFill>
                  <a:schemeClr val="bg2"/>
                </a:solidFill>
              </a:rPr>
              <a:t>Orherime Betty Ejakpovi | Data Analyst | Excel, SQL, Power BI</a:t>
            </a:r>
            <a:endParaRPr lang="en-US" sz="1400" dirty="0"/>
          </a:p>
        </p:txBody>
      </p:sp>
      <p:sp>
        <p:nvSpPr>
          <p:cNvPr id="5" name="Text 3"/>
          <p:cNvSpPr txBox="1"/>
          <p:nvPr/>
        </p:nvSpPr>
        <p:spPr>
          <a:xfrm>
            <a:off x="640080" y="3108960"/>
            <a:ext cx="7863840" cy="1280160"/>
          </a:xfrm>
          <a:prstGeom prst="rect">
            <a:avLst/>
          </a:prstGeom>
          <a:noFill/>
          <a:ln/>
        </p:spPr>
        <p:txBody>
          <a:bodyPr wrap="square" lIns="0" tIns="0" rIns="0" bIns="0" rtlCol="0" anchor="t"/>
          <a:lstStyle/>
          <a:p>
            <a:pPr marL="0" indent="0">
              <a:buNone/>
            </a:pPr>
            <a:r>
              <a:rPr lang="en-US" sz="1600" b="1" dirty="0">
                <a:solidFill>
                  <a:schemeClr val="bg1"/>
                </a:solidFill>
              </a:rPr>
              <a:t>Background. </a:t>
            </a:r>
            <a:r>
              <a:rPr lang="en-US" sz="1600" dirty="0">
                <a:solidFill>
                  <a:schemeClr val="bg1"/>
                </a:solidFill>
              </a:rPr>
              <a:t>Anemia can leave women tired and weak and adds risk during pregnancy. The 2018 Nigeria Demographic and Health Survey records women's hemoglobin together with household details, which lets us see who is most affected.</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0" y="0"/>
            <a:ext cx="6858000" cy="0"/>
          </a:xfrm>
          <a:prstGeom prst="rect">
            <a:avLst/>
          </a:prstGeom>
          <a:noFill/>
          <a:ln/>
        </p:spPr>
        <p:txBody>
          <a:bodyPr wrap="square" rtlCol="0"/>
          <a:lstStyle/>
          <a:p>
            <a:pPr marL="0" indent="0">
              <a:buNone/>
            </a:pPr>
            <a:r>
              <a:rPr lang="en-US" dirty="0"/>
              <a:t>Business Problem</a:t>
            </a:r>
          </a:p>
        </p:txBody>
      </p:sp>
      <p:sp>
        <p:nvSpPr>
          <p:cNvPr id="3" name="Text 1"/>
          <p:cNvSpPr txBox="1"/>
          <p:nvPr/>
        </p:nvSpPr>
        <p:spPr>
          <a:xfrm>
            <a:off x="548640" y="1188720"/>
            <a:ext cx="8046720" cy="3383280"/>
          </a:xfrm>
          <a:prstGeom prst="rect">
            <a:avLst/>
          </a:prstGeom>
          <a:noFill/>
          <a:ln/>
        </p:spPr>
        <p:txBody>
          <a:bodyPr wrap="square" lIns="0" tIns="0" rIns="0" bIns="0" rtlCol="0" anchor="t"/>
          <a:lstStyle/>
          <a:p>
            <a:pPr marL="342900" indent="-342900">
              <a:spcAft>
                <a:spcPts val="1000"/>
              </a:spcAft>
              <a:buSzPct val="100000"/>
              <a:buChar char="•"/>
            </a:pPr>
            <a:r>
              <a:rPr lang="en-US" sz="1600" b="1" dirty="0">
                <a:solidFill>
                  <a:schemeClr val="tx1"/>
                </a:solidFill>
              </a:rPr>
              <a:t>Main question: </a:t>
            </a:r>
            <a:r>
              <a:rPr lang="en-US" sz="1600" dirty="0">
                <a:solidFill>
                  <a:schemeClr val="tx1"/>
                </a:solidFill>
              </a:rPr>
              <a:t>Which women are most affected by anemia, and where can prevention reach them?</a:t>
            </a:r>
            <a:endParaRPr lang="en-US" sz="1600" dirty="0"/>
          </a:p>
          <a:p>
            <a:pPr marL="342900" indent="-342900">
              <a:spcAft>
                <a:spcPts val="1000"/>
              </a:spcAft>
              <a:buSzPct val="100000"/>
              <a:buChar char="•"/>
            </a:pPr>
            <a:r>
              <a:rPr lang="en-US" sz="1600" b="1" dirty="0">
                <a:solidFill>
                  <a:schemeClr val="tx1"/>
                </a:solidFill>
              </a:rPr>
              <a:t>How severe is it? </a:t>
            </a:r>
            <a:r>
              <a:rPr lang="en-US" sz="1600" dirty="0">
                <a:solidFill>
                  <a:schemeClr val="tx1"/>
                </a:solidFill>
              </a:rPr>
              <a:t>Mild, moderate or severe, and average hemoglobin.</a:t>
            </a:r>
            <a:endParaRPr lang="en-US" sz="1600" dirty="0"/>
          </a:p>
          <a:p>
            <a:pPr marL="342900" indent="-342900">
              <a:spcAft>
                <a:spcPts val="1000"/>
              </a:spcAft>
              <a:buSzPct val="100000"/>
              <a:buChar char="•"/>
            </a:pPr>
            <a:r>
              <a:rPr lang="en-US" sz="1600" b="1" dirty="0">
                <a:solidFill>
                  <a:schemeClr val="tx1"/>
                </a:solidFill>
              </a:rPr>
              <a:t>Who is affected? </a:t>
            </a:r>
            <a:r>
              <a:rPr lang="en-US" sz="1600" dirty="0">
                <a:solidFill>
                  <a:schemeClr val="tx1"/>
                </a:solidFill>
              </a:rPr>
              <a:t>Wealth group, rural or urban home, education and age.</a:t>
            </a:r>
            <a:endParaRPr lang="en-US" sz="1600" dirty="0"/>
          </a:p>
          <a:p>
            <a:pPr marL="342900" indent="-342900">
              <a:spcAft>
                <a:spcPts val="1000"/>
              </a:spcAft>
              <a:buSzPct val="100000"/>
              <a:buChar char="•"/>
            </a:pPr>
            <a:r>
              <a:rPr lang="en-US" sz="1600" b="1" dirty="0">
                <a:solidFill>
                  <a:schemeClr val="tx1"/>
                </a:solidFill>
              </a:rPr>
              <a:t>What are the gaps? </a:t>
            </a:r>
            <a:r>
              <a:rPr lang="en-US" sz="1600" dirty="0">
                <a:solidFill>
                  <a:schemeClr val="tx1"/>
                </a:solidFill>
              </a:rPr>
              <a:t>Iron supplement use across wealth groups.</a:t>
            </a:r>
            <a:endParaRPr lang="en-US" sz="16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1"/>
                </a:solidFil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0" y="0"/>
            <a:ext cx="6858000" cy="0"/>
          </a:xfrm>
          <a:prstGeom prst="rect">
            <a:avLst/>
          </a:prstGeom>
          <a:noFill/>
          <a:ln/>
        </p:spPr>
        <p:txBody>
          <a:bodyPr wrap="square" rtlCol="0"/>
          <a:lstStyle/>
          <a:p>
            <a:pPr marL="0" indent="0">
              <a:buNone/>
            </a:pPr>
            <a:r>
              <a:rPr lang="en-US" dirty="0"/>
              <a:t>Data Collection &amp; Preparation</a:t>
            </a:r>
          </a:p>
        </p:txBody>
      </p:sp>
      <p:sp>
        <p:nvSpPr>
          <p:cNvPr id="3" name="Text 1"/>
          <p:cNvSpPr txBox="1"/>
          <p:nvPr/>
        </p:nvSpPr>
        <p:spPr>
          <a:xfrm>
            <a:off x="548640" y="1188720"/>
            <a:ext cx="8046720" cy="3383280"/>
          </a:xfrm>
          <a:prstGeom prst="rect">
            <a:avLst/>
          </a:prstGeom>
          <a:noFill/>
          <a:ln/>
        </p:spPr>
        <p:txBody>
          <a:bodyPr wrap="square" lIns="0" tIns="0" rIns="0" bIns="0" rtlCol="0" anchor="t"/>
          <a:lstStyle/>
          <a:p>
            <a:pPr marL="342900" indent="-342900">
              <a:spcAft>
                <a:spcPts val="1000"/>
              </a:spcAft>
              <a:buSzPct val="100000"/>
              <a:buChar char="•"/>
            </a:pPr>
            <a:r>
              <a:rPr lang="en-US" sz="1600" b="1" dirty="0">
                <a:solidFill>
                  <a:schemeClr val="tx1"/>
                </a:solidFill>
              </a:rPr>
              <a:t>Source: </a:t>
            </a:r>
            <a:r>
              <a:rPr lang="en-US" sz="1600" dirty="0">
                <a:solidFill>
                  <a:schemeClr val="tx1"/>
                </a:solidFill>
              </a:rPr>
              <a:t>2018 NDHS, 33,924 survey records and 17 variables.</a:t>
            </a:r>
            <a:endParaRPr lang="en-US" sz="1600" dirty="0"/>
          </a:p>
          <a:p>
            <a:pPr marL="342900" indent="-342900">
              <a:spcAft>
                <a:spcPts val="1000"/>
              </a:spcAft>
              <a:buSzPct val="100000"/>
              <a:buChar char="•"/>
            </a:pPr>
            <a:r>
              <a:rPr lang="en-US" sz="1600" b="1" dirty="0">
                <a:solidFill>
                  <a:schemeClr val="tx1"/>
                </a:solidFill>
              </a:rPr>
              <a:t>Cleaned in Excel: </a:t>
            </a:r>
            <a:r>
              <a:rPr lang="en-US" sz="1600" dirty="0">
                <a:solidFill>
                  <a:schemeClr val="tx1"/>
                </a:solidFill>
              </a:rPr>
              <a:t>kept the woman’s hemoglobin and anemia level, removed the child columns.</a:t>
            </a:r>
            <a:endParaRPr lang="en-US" sz="1600" dirty="0"/>
          </a:p>
          <a:p>
            <a:pPr marL="342900" indent="-342900">
              <a:spcAft>
                <a:spcPts val="1000"/>
              </a:spcAft>
              <a:buSzPct val="100000"/>
              <a:buChar char="•"/>
            </a:pPr>
            <a:r>
              <a:rPr lang="en-US" sz="1600" b="1" dirty="0">
                <a:solidFill>
                  <a:schemeClr val="tx1"/>
                </a:solidFill>
              </a:rPr>
              <a:t>Removed: </a:t>
            </a:r>
            <a:r>
              <a:rPr lang="en-US" sz="1600" dirty="0">
                <a:solidFill>
                  <a:schemeClr val="tx1"/>
                </a:solidFill>
              </a:rPr>
              <a:t>women without anemia and blank results.</a:t>
            </a:r>
            <a:endParaRPr lang="en-US" sz="1600" dirty="0"/>
          </a:p>
          <a:p>
            <a:pPr marL="342900" indent="-342900">
              <a:spcAft>
                <a:spcPts val="1000"/>
              </a:spcAft>
              <a:buSzPct val="100000"/>
              <a:buChar char="•"/>
            </a:pPr>
            <a:r>
              <a:rPr lang="en-US" sz="1600" b="1" dirty="0">
                <a:solidFill>
                  <a:schemeClr val="tx1"/>
                </a:solidFill>
              </a:rPr>
              <a:t>Result: </a:t>
            </a:r>
            <a:r>
              <a:rPr lang="en-US" sz="1600" dirty="0">
                <a:solidFill>
                  <a:schemeClr val="tx1"/>
                </a:solidFill>
              </a:rPr>
              <a:t>4,415 women with anemia and 12 columns.</a:t>
            </a:r>
            <a:endParaRPr lang="en-US" sz="1600" dirty="0"/>
          </a:p>
          <a:p>
            <a:pPr marL="342900" indent="-342900">
              <a:spcAft>
                <a:spcPts val="1000"/>
              </a:spcAft>
              <a:buSzPct val="100000"/>
              <a:buChar char="•"/>
            </a:pPr>
            <a:r>
              <a:rPr lang="en-US" sz="1600" b="1" dirty="0">
                <a:solidFill>
                  <a:schemeClr val="tx1"/>
                </a:solidFill>
              </a:rPr>
              <a:t>Note: </a:t>
            </a:r>
            <a:r>
              <a:rPr lang="en-US" sz="1600" dirty="0">
                <a:solidFill>
                  <a:schemeClr val="tx1"/>
                </a:solidFill>
              </a:rPr>
              <a:t>age and education are the woman’s own.</a:t>
            </a:r>
            <a:endParaRPr lang="en-US" sz="16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1"/>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0" y="0"/>
            <a:ext cx="6858000" cy="0"/>
          </a:xfrm>
          <a:prstGeom prst="rect">
            <a:avLst/>
          </a:prstGeom>
          <a:noFill/>
          <a:ln/>
        </p:spPr>
        <p:txBody>
          <a:bodyPr wrap="square" rtlCol="0"/>
          <a:lstStyle/>
          <a:p>
            <a:pPr marL="0" indent="0">
              <a:buNone/>
            </a:pPr>
            <a:r>
              <a:rPr lang="en-US" dirty="0"/>
              <a:t>Analytical Approach</a:t>
            </a:r>
          </a:p>
        </p:txBody>
      </p:sp>
      <p:sp>
        <p:nvSpPr>
          <p:cNvPr id="3" name="Text 1"/>
          <p:cNvSpPr txBox="1"/>
          <p:nvPr/>
        </p:nvSpPr>
        <p:spPr>
          <a:xfrm>
            <a:off x="548640" y="1188720"/>
            <a:ext cx="8046720" cy="3383280"/>
          </a:xfrm>
          <a:prstGeom prst="rect">
            <a:avLst/>
          </a:prstGeom>
          <a:noFill/>
          <a:ln/>
        </p:spPr>
        <p:txBody>
          <a:bodyPr wrap="square" lIns="0" tIns="0" rIns="0" bIns="0" rtlCol="0" anchor="t"/>
          <a:lstStyle/>
          <a:p>
            <a:pPr marL="342900" indent="-342900">
              <a:spcAft>
                <a:spcPts val="1000"/>
              </a:spcAft>
              <a:buSzPct val="100000"/>
              <a:buChar char="•"/>
            </a:pPr>
            <a:r>
              <a:rPr lang="en-US" sz="1600" b="1" dirty="0">
                <a:solidFill>
                  <a:schemeClr val="tx1"/>
                </a:solidFill>
              </a:rPr>
              <a:t>Tools: </a:t>
            </a:r>
            <a:r>
              <a:rPr lang="en-US" sz="1600" dirty="0">
                <a:solidFill>
                  <a:schemeClr val="tx1"/>
                </a:solidFill>
              </a:rPr>
              <a:t>Excel for cleaning and filtering, Power BI for the data model, KPI cards and charts.</a:t>
            </a:r>
            <a:endParaRPr lang="en-US" sz="1600" dirty="0"/>
          </a:p>
          <a:p>
            <a:pPr marL="342900" indent="-342900">
              <a:spcAft>
                <a:spcPts val="1000"/>
              </a:spcAft>
              <a:buSzPct val="100000"/>
              <a:buChar char="•"/>
            </a:pPr>
            <a:r>
              <a:rPr lang="en-US" sz="1600" b="1" dirty="0">
                <a:solidFill>
                  <a:schemeClr val="tx1"/>
                </a:solidFill>
              </a:rPr>
              <a:t>Methods: </a:t>
            </a:r>
            <a:r>
              <a:rPr lang="en-US" sz="1600" dirty="0">
                <a:solidFill>
                  <a:schemeClr val="tx1"/>
                </a:solidFill>
              </a:rPr>
              <a:t>exploratory analysis, descriptive statistics and comparison across groups.</a:t>
            </a:r>
            <a:endParaRPr lang="en-US" sz="1600" dirty="0"/>
          </a:p>
          <a:p>
            <a:pPr marL="342900" indent="-342900">
              <a:spcAft>
                <a:spcPts val="1000"/>
              </a:spcAft>
              <a:buSzPct val="100000"/>
              <a:buChar char="•"/>
            </a:pPr>
            <a:r>
              <a:rPr lang="en-US" sz="1600" b="1" dirty="0">
                <a:solidFill>
                  <a:schemeClr val="tx1"/>
                </a:solidFill>
              </a:rPr>
              <a:t>Output: </a:t>
            </a:r>
            <a:r>
              <a:rPr lang="en-US" sz="1600" dirty="0">
                <a:solidFill>
                  <a:schemeClr val="tx1"/>
                </a:solidFill>
              </a:rPr>
              <a:t>a 3-page Power BI dashboard (The Pattern, The Gap, Insight).</a:t>
            </a:r>
            <a:endParaRPr lang="en-US" sz="16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1"/>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0" y="0"/>
            <a:ext cx="6858000" cy="0"/>
          </a:xfrm>
          <a:prstGeom prst="rect">
            <a:avLst/>
          </a:prstGeom>
          <a:noFill/>
          <a:ln/>
        </p:spPr>
        <p:txBody>
          <a:bodyPr wrap="square" rtlCol="0"/>
          <a:lstStyle/>
          <a:p>
            <a:pPr marL="0" indent="0">
              <a:buNone/>
            </a:pPr>
            <a:r>
              <a:rPr lang="en-US" dirty="0"/>
              <a:t>Analysis Tasks</a:t>
            </a:r>
          </a:p>
        </p:txBody>
      </p:sp>
      <p:sp>
        <p:nvSpPr>
          <p:cNvPr id="3" name="Text 1"/>
          <p:cNvSpPr txBox="1"/>
          <p:nvPr/>
        </p:nvSpPr>
        <p:spPr>
          <a:xfrm>
            <a:off x="548640" y="1188720"/>
            <a:ext cx="8046720" cy="3383280"/>
          </a:xfrm>
          <a:prstGeom prst="rect">
            <a:avLst/>
          </a:prstGeom>
          <a:noFill/>
          <a:ln/>
        </p:spPr>
        <p:txBody>
          <a:bodyPr wrap="square" lIns="0" tIns="0" rIns="0" bIns="0" rtlCol="0" anchor="t"/>
          <a:lstStyle/>
          <a:p>
            <a:pPr marL="342900" indent="-342900">
              <a:spcAft>
                <a:spcPts val="1000"/>
              </a:spcAft>
              <a:buSzPct val="100000"/>
              <a:buChar char="•"/>
            </a:pPr>
            <a:r>
              <a:rPr lang="en-US" sz="1600" b="1" dirty="0">
                <a:solidFill>
                  <a:schemeClr val="tx1"/>
                </a:solidFill>
              </a:rPr>
              <a:t>1. </a:t>
            </a:r>
            <a:r>
              <a:rPr lang="en-US" sz="1600" dirty="0">
                <a:solidFill>
                  <a:schemeClr val="tx1"/>
                </a:solidFill>
              </a:rPr>
              <a:t>Break down anemia by severity and average hemoglobin.</a:t>
            </a:r>
            <a:endParaRPr lang="en-US" sz="1600" dirty="0"/>
          </a:p>
          <a:p>
            <a:pPr marL="342900" indent="-342900">
              <a:spcAft>
                <a:spcPts val="1000"/>
              </a:spcAft>
              <a:buSzPct val="100000"/>
              <a:buChar char="•"/>
            </a:pPr>
            <a:r>
              <a:rPr lang="en-US" sz="1600" b="1" dirty="0">
                <a:solidFill>
                  <a:schemeClr val="tx1"/>
                </a:solidFill>
              </a:rPr>
              <a:t>2. </a:t>
            </a:r>
            <a:r>
              <a:rPr lang="en-US" sz="1600" dirty="0">
                <a:solidFill>
                  <a:schemeClr val="tx1"/>
                </a:solidFill>
              </a:rPr>
              <a:t>Compare cases by wealth, residence and education.</a:t>
            </a:r>
            <a:endParaRPr lang="en-US" sz="1600" dirty="0"/>
          </a:p>
          <a:p>
            <a:pPr marL="342900" indent="-342900">
              <a:spcAft>
                <a:spcPts val="1000"/>
              </a:spcAft>
              <a:buSzPct val="100000"/>
              <a:buChar char="•"/>
            </a:pPr>
            <a:r>
              <a:rPr lang="en-US" sz="1600" b="1" dirty="0">
                <a:solidFill>
                  <a:schemeClr val="tx1"/>
                </a:solidFill>
              </a:rPr>
              <a:t>3. </a:t>
            </a:r>
            <a:r>
              <a:rPr lang="en-US" sz="1600" dirty="0">
                <a:solidFill>
                  <a:schemeClr val="tx1"/>
                </a:solidFill>
              </a:rPr>
              <a:t>Check iron pill use, overall and by wealth group.</a:t>
            </a:r>
            <a:endParaRPr lang="en-US" sz="1600" dirty="0"/>
          </a:p>
          <a:p>
            <a:pPr marL="342900" indent="-342900">
              <a:spcAft>
                <a:spcPts val="1000"/>
              </a:spcAft>
              <a:buSzPct val="100000"/>
              <a:buChar char="•"/>
            </a:pPr>
            <a:r>
              <a:rPr lang="en-US" sz="1600" b="1" dirty="0">
                <a:solidFill>
                  <a:schemeClr val="tx1"/>
                </a:solidFill>
              </a:rPr>
              <a:t>4. </a:t>
            </a:r>
            <a:r>
              <a:rPr lang="en-US" sz="1600" dirty="0">
                <a:solidFill>
                  <a:schemeClr val="tx1"/>
                </a:solidFill>
              </a:rPr>
              <a:t>Look at age and age at first birth.</a:t>
            </a:r>
            <a:endParaRPr lang="en-US" sz="16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1"/>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0" y="0"/>
            <a:ext cx="6858000" cy="0"/>
          </a:xfrm>
          <a:prstGeom prst="rect">
            <a:avLst/>
          </a:prstGeom>
          <a:noFill/>
          <a:ln/>
        </p:spPr>
        <p:txBody>
          <a:bodyPr wrap="square" rtlCol="0"/>
          <a:lstStyle/>
          <a:p>
            <a:pPr marL="0" indent="0">
              <a:buNone/>
            </a:pPr>
            <a:r>
              <a:rPr lang="en-US" dirty="0"/>
              <a:t>Insights</a:t>
            </a:r>
          </a:p>
        </p:txBody>
      </p:sp>
      <p:sp>
        <p:nvSpPr>
          <p:cNvPr id="3" name="Card 1"/>
          <p:cNvSpPr/>
          <p:nvPr/>
        </p:nvSpPr>
        <p:spPr>
          <a:xfrm>
            <a:off x="548640" y="1097280"/>
            <a:ext cx="1920240" cy="868680"/>
          </a:xfrm>
          <a:prstGeom prst="roundRect">
            <a:avLst>
              <a:gd name="adj" fmla="val 8421"/>
            </a:avLst>
          </a:prstGeom>
          <a:solidFill>
            <a:schemeClr val="bg2"/>
          </a:solidFill>
          <a:ln w="12700">
            <a:solidFill>
              <a:schemeClr val="bg2"/>
            </a:solidFill>
            <a:prstDash val="solid"/>
          </a:ln>
        </p:spPr>
      </p:sp>
      <p:sp>
        <p:nvSpPr>
          <p:cNvPr id="4" name="Text 2"/>
          <p:cNvSpPr txBox="1"/>
          <p:nvPr/>
        </p:nvSpPr>
        <p:spPr>
          <a:xfrm>
            <a:off x="640080" y="1143000"/>
            <a:ext cx="1737360" cy="457200"/>
          </a:xfrm>
          <a:prstGeom prst="rect">
            <a:avLst/>
          </a:prstGeom>
          <a:noFill/>
          <a:ln/>
        </p:spPr>
        <p:txBody>
          <a:bodyPr wrap="square" lIns="0" tIns="0" rIns="0" bIns="0" rtlCol="0" anchor="ctr"/>
          <a:lstStyle/>
          <a:p>
            <a:pPr marL="0" indent="0" algn="ctr">
              <a:buNone/>
            </a:pPr>
            <a:r>
              <a:rPr lang="en-US" sz="2400" b="1" dirty="0">
                <a:solidFill>
                  <a:schemeClr val="accent1"/>
                </a:solidFill>
              </a:rPr>
              <a:t>4,415</a:t>
            </a:r>
            <a:endParaRPr lang="en-US" sz="2400" dirty="0"/>
          </a:p>
        </p:txBody>
      </p:sp>
      <p:sp>
        <p:nvSpPr>
          <p:cNvPr id="5" name="Text 3"/>
          <p:cNvSpPr txBox="1"/>
          <p:nvPr/>
        </p:nvSpPr>
        <p:spPr>
          <a:xfrm>
            <a:off x="640080" y="1600200"/>
            <a:ext cx="1737360" cy="320040"/>
          </a:xfrm>
          <a:prstGeom prst="rect">
            <a:avLst/>
          </a:prstGeom>
          <a:noFill/>
          <a:ln/>
        </p:spPr>
        <p:txBody>
          <a:bodyPr wrap="square" lIns="0" tIns="0" rIns="0" bIns="0" rtlCol="0" anchor="ctr"/>
          <a:lstStyle/>
          <a:p>
            <a:pPr marL="0" indent="0" algn="ctr">
              <a:buNone/>
            </a:pPr>
            <a:r>
              <a:rPr lang="en-US" sz="1000" dirty="0">
                <a:solidFill>
                  <a:schemeClr val="tx1"/>
                </a:solidFill>
              </a:rPr>
              <a:t>women with anemia</a:t>
            </a:r>
            <a:endParaRPr lang="en-US" sz="1000" dirty="0"/>
          </a:p>
        </p:txBody>
      </p:sp>
      <p:sp>
        <p:nvSpPr>
          <p:cNvPr id="6" name="Card 2"/>
          <p:cNvSpPr/>
          <p:nvPr/>
        </p:nvSpPr>
        <p:spPr>
          <a:xfrm>
            <a:off x="2651760" y="1097280"/>
            <a:ext cx="1920240" cy="868680"/>
          </a:xfrm>
          <a:prstGeom prst="roundRect">
            <a:avLst>
              <a:gd name="adj" fmla="val 8421"/>
            </a:avLst>
          </a:prstGeom>
          <a:solidFill>
            <a:schemeClr val="bg2"/>
          </a:solidFill>
          <a:ln w="12700">
            <a:solidFill>
              <a:schemeClr val="bg2"/>
            </a:solidFill>
            <a:prstDash val="solid"/>
          </a:ln>
        </p:spPr>
      </p:sp>
      <p:sp>
        <p:nvSpPr>
          <p:cNvPr id="7" name="Text 5"/>
          <p:cNvSpPr txBox="1"/>
          <p:nvPr/>
        </p:nvSpPr>
        <p:spPr>
          <a:xfrm>
            <a:off x="2743200" y="1143000"/>
            <a:ext cx="1737360" cy="457200"/>
          </a:xfrm>
          <a:prstGeom prst="rect">
            <a:avLst/>
          </a:prstGeom>
          <a:noFill/>
          <a:ln/>
        </p:spPr>
        <p:txBody>
          <a:bodyPr wrap="square" lIns="0" tIns="0" rIns="0" bIns="0" rtlCol="0" anchor="ctr"/>
          <a:lstStyle/>
          <a:p>
            <a:pPr marL="0" indent="0" algn="ctr">
              <a:buNone/>
            </a:pPr>
            <a:r>
              <a:rPr lang="en-US" sz="2400" b="1" dirty="0">
                <a:solidFill>
                  <a:schemeClr val="accent1"/>
                </a:solidFill>
              </a:rPr>
              <a:t>53%</a:t>
            </a:r>
            <a:endParaRPr lang="en-US" sz="2400" dirty="0"/>
          </a:p>
        </p:txBody>
      </p:sp>
      <p:sp>
        <p:nvSpPr>
          <p:cNvPr id="8" name="Text 6"/>
          <p:cNvSpPr txBox="1"/>
          <p:nvPr/>
        </p:nvSpPr>
        <p:spPr>
          <a:xfrm>
            <a:off x="2743200" y="1600200"/>
            <a:ext cx="1737360" cy="320040"/>
          </a:xfrm>
          <a:prstGeom prst="rect">
            <a:avLst/>
          </a:prstGeom>
          <a:noFill/>
          <a:ln/>
        </p:spPr>
        <p:txBody>
          <a:bodyPr wrap="square" lIns="0" tIns="0" rIns="0" bIns="0" rtlCol="0" anchor="ctr"/>
          <a:lstStyle/>
          <a:p>
            <a:pPr marL="0" indent="0" algn="ctr">
              <a:buNone/>
            </a:pPr>
            <a:r>
              <a:rPr lang="en-US" sz="1000" dirty="0">
                <a:solidFill>
                  <a:schemeClr val="tx1"/>
                </a:solidFill>
              </a:rPr>
              <a:t>moderate (56% moderate or severe)</a:t>
            </a:r>
            <a:endParaRPr lang="en-US" sz="1000" dirty="0"/>
          </a:p>
        </p:txBody>
      </p:sp>
      <p:sp>
        <p:nvSpPr>
          <p:cNvPr id="9" name="Card 3"/>
          <p:cNvSpPr/>
          <p:nvPr/>
        </p:nvSpPr>
        <p:spPr>
          <a:xfrm>
            <a:off x="4754880" y="1097280"/>
            <a:ext cx="1920240" cy="868680"/>
          </a:xfrm>
          <a:prstGeom prst="roundRect">
            <a:avLst>
              <a:gd name="adj" fmla="val 8421"/>
            </a:avLst>
          </a:prstGeom>
          <a:solidFill>
            <a:schemeClr val="bg2"/>
          </a:solidFill>
          <a:ln w="12700">
            <a:solidFill>
              <a:schemeClr val="bg2"/>
            </a:solidFill>
            <a:prstDash val="solid"/>
          </a:ln>
        </p:spPr>
      </p:sp>
      <p:sp>
        <p:nvSpPr>
          <p:cNvPr id="10" name="Text 8"/>
          <p:cNvSpPr txBox="1"/>
          <p:nvPr/>
        </p:nvSpPr>
        <p:spPr>
          <a:xfrm>
            <a:off x="4846320" y="1143000"/>
            <a:ext cx="1737360" cy="457200"/>
          </a:xfrm>
          <a:prstGeom prst="rect">
            <a:avLst/>
          </a:prstGeom>
          <a:noFill/>
          <a:ln/>
        </p:spPr>
        <p:txBody>
          <a:bodyPr wrap="square" lIns="0" tIns="0" rIns="0" bIns="0" rtlCol="0" anchor="ctr"/>
          <a:lstStyle/>
          <a:p>
            <a:pPr marL="0" indent="0" algn="ctr">
              <a:buNone/>
            </a:pPr>
            <a:r>
              <a:rPr lang="en-US" sz="2400" b="1" dirty="0">
                <a:solidFill>
                  <a:schemeClr val="accent1"/>
                </a:solidFill>
              </a:rPr>
              <a:t>66%</a:t>
            </a:r>
            <a:endParaRPr lang="en-US" sz="2400" dirty="0"/>
          </a:p>
        </p:txBody>
      </p:sp>
      <p:sp>
        <p:nvSpPr>
          <p:cNvPr id="11" name="Text 9"/>
          <p:cNvSpPr txBox="1"/>
          <p:nvPr/>
        </p:nvSpPr>
        <p:spPr>
          <a:xfrm>
            <a:off x="4846320" y="1600200"/>
            <a:ext cx="1737360" cy="320040"/>
          </a:xfrm>
          <a:prstGeom prst="rect">
            <a:avLst/>
          </a:prstGeom>
          <a:noFill/>
          <a:ln/>
        </p:spPr>
        <p:txBody>
          <a:bodyPr wrap="square" lIns="0" tIns="0" rIns="0" bIns="0" rtlCol="0" anchor="ctr"/>
          <a:lstStyle/>
          <a:p>
            <a:pPr marL="0" indent="0" algn="ctr">
              <a:buNone/>
            </a:pPr>
            <a:r>
              <a:rPr lang="en-US" sz="1000" dirty="0">
                <a:solidFill>
                  <a:schemeClr val="tx1"/>
                </a:solidFill>
              </a:rPr>
              <a:t>live in rural areas</a:t>
            </a:r>
            <a:endParaRPr lang="en-US" sz="1000" dirty="0"/>
          </a:p>
        </p:txBody>
      </p:sp>
      <p:sp>
        <p:nvSpPr>
          <p:cNvPr id="12" name="Card 4"/>
          <p:cNvSpPr/>
          <p:nvPr/>
        </p:nvSpPr>
        <p:spPr>
          <a:xfrm>
            <a:off x="6858000" y="1097280"/>
            <a:ext cx="1920240" cy="868680"/>
          </a:xfrm>
          <a:prstGeom prst="roundRect">
            <a:avLst>
              <a:gd name="adj" fmla="val 8421"/>
            </a:avLst>
          </a:prstGeom>
          <a:solidFill>
            <a:schemeClr val="bg2"/>
          </a:solidFill>
          <a:ln w="12700">
            <a:solidFill>
              <a:schemeClr val="bg2"/>
            </a:solidFill>
            <a:prstDash val="solid"/>
          </a:ln>
        </p:spPr>
      </p:sp>
      <p:sp>
        <p:nvSpPr>
          <p:cNvPr id="13" name="Text 11"/>
          <p:cNvSpPr txBox="1"/>
          <p:nvPr/>
        </p:nvSpPr>
        <p:spPr>
          <a:xfrm>
            <a:off x="6949440" y="1143000"/>
            <a:ext cx="1737360" cy="457200"/>
          </a:xfrm>
          <a:prstGeom prst="rect">
            <a:avLst/>
          </a:prstGeom>
          <a:noFill/>
          <a:ln/>
        </p:spPr>
        <p:txBody>
          <a:bodyPr wrap="square" lIns="0" tIns="0" rIns="0" bIns="0" rtlCol="0" anchor="ctr"/>
          <a:lstStyle/>
          <a:p>
            <a:pPr marL="0" indent="0" algn="ctr">
              <a:buNone/>
            </a:pPr>
            <a:r>
              <a:rPr lang="en-US" sz="2400" b="1" dirty="0">
                <a:solidFill>
                  <a:schemeClr val="accent1"/>
                </a:solidFill>
              </a:rPr>
              <a:t>81%</a:t>
            </a:r>
            <a:endParaRPr lang="en-US" sz="2400" dirty="0"/>
          </a:p>
        </p:txBody>
      </p:sp>
      <p:sp>
        <p:nvSpPr>
          <p:cNvPr id="14" name="Text 12"/>
          <p:cNvSpPr txBox="1"/>
          <p:nvPr/>
        </p:nvSpPr>
        <p:spPr>
          <a:xfrm>
            <a:off x="6949440" y="1600200"/>
            <a:ext cx="1737360" cy="320040"/>
          </a:xfrm>
          <a:prstGeom prst="rect">
            <a:avLst/>
          </a:prstGeom>
          <a:noFill/>
          <a:ln/>
        </p:spPr>
        <p:txBody>
          <a:bodyPr wrap="square" lIns="0" tIns="0" rIns="0" bIns="0" rtlCol="0" anchor="ctr"/>
          <a:lstStyle/>
          <a:p>
            <a:pPr marL="0" indent="0" algn="ctr">
              <a:buNone/>
            </a:pPr>
            <a:r>
              <a:rPr lang="en-US" sz="1000" dirty="0">
                <a:solidFill>
                  <a:schemeClr val="tx1"/>
                </a:solidFill>
              </a:rPr>
              <a:t>not taking iron pills</a:t>
            </a:r>
            <a:endParaRPr lang="en-US" sz="1000" dirty="0"/>
          </a:p>
        </p:txBody>
      </p:sp>
      <p:graphicFrame>
        <p:nvGraphicFramePr>
          <p:cNvPr id="15" name="Chart 0"/>
          <p:cNvGraphicFramePr/>
          <p:nvPr/>
        </p:nvGraphicFramePr>
        <p:xfrm>
          <a:off x="548640" y="2103120"/>
          <a:ext cx="4023360" cy="237744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6" name="Chart 1"/>
          <p:cNvGraphicFramePr/>
          <p:nvPr/>
        </p:nvGraphicFramePr>
        <p:xfrm>
          <a:off x="4572000" y="2103120"/>
          <a:ext cx="4023360" cy="2377440"/>
        </p:xfrm>
        <a:graphic>
          <a:graphicData uri="http://schemas.openxmlformats.org/drawingml/2006/chart">
            <c:chart xmlns:c="http://schemas.openxmlformats.org/drawingml/2006/chart" xmlns:r="http://schemas.openxmlformats.org/officeDocument/2006/relationships" r:id="rId4"/>
          </a:graphicData>
        </a:graphic>
      </p:graphicFrame>
      <p:sp>
        <p:nvSpPr>
          <p:cNvPr id="17" name="Text 13"/>
          <p:cNvSpPr txBox="1"/>
          <p:nvPr/>
        </p:nvSpPr>
        <p:spPr>
          <a:xfrm>
            <a:off x="548640" y="4526280"/>
            <a:ext cx="7772400" cy="365760"/>
          </a:xfrm>
          <a:prstGeom prst="rect">
            <a:avLst/>
          </a:prstGeom>
          <a:noFill/>
          <a:ln/>
        </p:spPr>
        <p:txBody>
          <a:bodyPr wrap="square" lIns="0" tIns="0" rIns="0" bIns="0" rtlCol="0" anchor="ctr"/>
          <a:lstStyle/>
          <a:p>
            <a:pPr marL="0" indent="0">
              <a:buNone/>
            </a:pPr>
            <a:r>
              <a:rPr lang="en-US" sz="1100" i="1" dirty="0">
                <a:solidFill>
                  <a:schemeClr val="tx1"/>
                </a:solidFill>
              </a:rPr>
              <a:t>Data covers women with anemia only, so it shows who the cases are, not which groups have higher rates.</a:t>
            </a:r>
            <a:endParaRPr lang="en-US" sz="11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1"/>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0" y="0"/>
            <a:ext cx="6858000" cy="0"/>
          </a:xfrm>
          <a:prstGeom prst="rect">
            <a:avLst/>
          </a:prstGeom>
          <a:noFill/>
          <a:ln/>
        </p:spPr>
        <p:txBody>
          <a:bodyPr wrap="square" rtlCol="0"/>
          <a:lstStyle/>
          <a:p>
            <a:pPr marL="0" indent="0">
              <a:buNone/>
            </a:pPr>
            <a:r>
              <a:rPr lang="en-US" dirty="0"/>
              <a:t>Recommendations</a:t>
            </a:r>
          </a:p>
        </p:txBody>
      </p:sp>
      <p:sp>
        <p:nvSpPr>
          <p:cNvPr id="3" name="Text 1"/>
          <p:cNvSpPr txBox="1"/>
          <p:nvPr/>
        </p:nvSpPr>
        <p:spPr>
          <a:xfrm>
            <a:off x="548640" y="1188720"/>
            <a:ext cx="8046720" cy="3383280"/>
          </a:xfrm>
          <a:prstGeom prst="rect">
            <a:avLst/>
          </a:prstGeom>
          <a:noFill/>
          <a:ln/>
        </p:spPr>
        <p:txBody>
          <a:bodyPr wrap="square" lIns="0" tIns="0" rIns="0" bIns="0" rtlCol="0" anchor="t"/>
          <a:lstStyle/>
          <a:p>
            <a:pPr marL="342900" indent="-342900">
              <a:spcAft>
                <a:spcPts val="1000"/>
              </a:spcAft>
              <a:buSzPct val="100000"/>
              <a:buChar char="•"/>
            </a:pPr>
            <a:r>
              <a:rPr lang="en-US" sz="1600" b="1" dirty="0">
                <a:solidFill>
                  <a:schemeClr val="tx1"/>
                </a:solidFill>
              </a:rPr>
              <a:t>Target rural and low-income homes: </a:t>
            </a:r>
            <a:r>
              <a:rPr lang="en-US" sz="1600" dirty="0">
                <a:solidFill>
                  <a:schemeClr val="tx1"/>
                </a:solidFill>
              </a:rPr>
              <a:t>66% of cases are rural and the poorest group has the most.</a:t>
            </a:r>
            <a:endParaRPr lang="en-US" sz="1600" dirty="0"/>
          </a:p>
          <a:p>
            <a:pPr marL="342900" indent="-342900">
              <a:spcAft>
                <a:spcPts val="1000"/>
              </a:spcAft>
              <a:buSzPct val="100000"/>
              <a:buChar char="•"/>
            </a:pPr>
            <a:r>
              <a:rPr lang="en-US" sz="1600" b="1" dirty="0">
                <a:solidFill>
                  <a:schemeClr val="tx1"/>
                </a:solidFill>
              </a:rPr>
              <a:t>Make iron easier to get: </a:t>
            </a:r>
            <a:r>
              <a:rPr lang="en-US" sz="1600" dirty="0">
                <a:solidFill>
                  <a:schemeClr val="tx1"/>
                </a:solidFill>
              </a:rPr>
              <a:t>use is 10.8% in the poorest group against 28.5% in the richest.</a:t>
            </a:r>
            <a:endParaRPr lang="en-US" sz="1600" dirty="0"/>
          </a:p>
          <a:p>
            <a:pPr marL="342900" indent="-342900">
              <a:spcAft>
                <a:spcPts val="1000"/>
              </a:spcAft>
              <a:buSzPct val="100000"/>
              <a:buChar char="•"/>
            </a:pPr>
            <a:r>
              <a:rPr lang="en-US" sz="1600" b="1" dirty="0">
                <a:solidFill>
                  <a:schemeClr val="tx1"/>
                </a:solidFill>
              </a:rPr>
              <a:t>Reach women in their 20s and early 30s: </a:t>
            </a:r>
            <a:r>
              <a:rPr lang="en-US" sz="1600" dirty="0">
                <a:solidFill>
                  <a:schemeClr val="tx1"/>
                </a:solidFill>
              </a:rPr>
              <a:t>half of cases are women aged 25 to 34.</a:t>
            </a:r>
            <a:endParaRPr lang="en-US" sz="1600" dirty="0"/>
          </a:p>
          <a:p>
            <a:pPr marL="342900" indent="-342900">
              <a:spcAft>
                <a:spcPts val="1000"/>
              </a:spcAft>
              <a:buSzPct val="100000"/>
              <a:buChar char="•"/>
            </a:pPr>
            <a:r>
              <a:rPr lang="en-US" sz="1600" b="1" dirty="0">
                <a:solidFill>
                  <a:schemeClr val="tx1"/>
                </a:solidFill>
              </a:rPr>
              <a:t>Use simple, spoken messages: </a:t>
            </a:r>
            <a:r>
              <a:rPr lang="en-US" sz="1600" dirty="0">
                <a:solidFill>
                  <a:schemeClr val="tx1"/>
                </a:solidFill>
              </a:rPr>
              <a:t>43% of women have no formal education.</a:t>
            </a:r>
            <a:endParaRPr lang="en-US" sz="1600" dirty="0"/>
          </a:p>
          <a:p>
            <a:pPr marL="342900" indent="-342900">
              <a:spcAft>
                <a:spcPts val="1000"/>
              </a:spcAft>
              <a:buSzPct val="100000"/>
              <a:buChar char="•"/>
            </a:pPr>
            <a:r>
              <a:rPr lang="en-US" sz="1600" b="1" dirty="0">
                <a:solidFill>
                  <a:schemeClr val="tx1"/>
                </a:solidFill>
              </a:rPr>
              <a:t>Screen early in rural health centres: </a:t>
            </a:r>
            <a:r>
              <a:rPr lang="en-US" sz="1600" dirty="0">
                <a:solidFill>
                  <a:schemeClr val="tx1"/>
                </a:solidFill>
              </a:rPr>
              <a:t>71% of severe cases are rural.</a:t>
            </a:r>
            <a:endParaRPr lang="en-US" sz="16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1"/>
                </a:solidFil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0" y="0"/>
            <a:ext cx="6858000" cy="0"/>
          </a:xfrm>
          <a:prstGeom prst="rect">
            <a:avLst/>
          </a:prstGeom>
          <a:noFill/>
          <a:ln/>
        </p:spPr>
        <p:txBody>
          <a:bodyPr wrap="square" rtlCol="0"/>
          <a:lstStyle/>
          <a:p>
            <a:pPr marL="0" indent="0">
              <a:buNone/>
            </a:pPr>
            <a:r>
              <a:rPr lang="en-US" dirty="0"/>
              <a:t>Expected Impact</a:t>
            </a:r>
          </a:p>
        </p:txBody>
      </p:sp>
      <p:sp>
        <p:nvSpPr>
          <p:cNvPr id="3" name="Text 1"/>
          <p:cNvSpPr txBox="1"/>
          <p:nvPr/>
        </p:nvSpPr>
        <p:spPr>
          <a:xfrm>
            <a:off x="548640" y="1188720"/>
            <a:ext cx="8046720" cy="3383280"/>
          </a:xfrm>
          <a:prstGeom prst="rect">
            <a:avLst/>
          </a:prstGeom>
          <a:noFill/>
          <a:ln/>
        </p:spPr>
        <p:txBody>
          <a:bodyPr wrap="square" lIns="0" tIns="0" rIns="0" bIns="0" rtlCol="0" anchor="t"/>
          <a:lstStyle/>
          <a:p>
            <a:pPr marL="342900" indent="-342900">
              <a:spcAft>
                <a:spcPts val="1000"/>
              </a:spcAft>
              <a:buSzPct val="100000"/>
              <a:buChar char="•"/>
            </a:pPr>
            <a:r>
              <a:rPr lang="en-US" sz="1600" b="1" dirty="0">
                <a:solidFill>
                  <a:schemeClr val="tx1"/>
                </a:solidFill>
              </a:rPr>
              <a:t>Earlier detection: </a:t>
            </a:r>
            <a:r>
              <a:rPr lang="en-US" sz="1600" dirty="0">
                <a:solidFill>
                  <a:schemeClr val="tx1"/>
                </a:solidFill>
              </a:rPr>
              <a:t>screening in rural clinics finds anemia before it becomes severe.</a:t>
            </a:r>
            <a:endParaRPr lang="en-US" sz="1600" dirty="0"/>
          </a:p>
          <a:p>
            <a:pPr marL="342900" indent="-342900">
              <a:spcAft>
                <a:spcPts val="1000"/>
              </a:spcAft>
              <a:buSzPct val="100000"/>
              <a:buChar char="•"/>
            </a:pPr>
            <a:r>
              <a:rPr lang="en-US" sz="1600" b="1" dirty="0">
                <a:solidFill>
                  <a:schemeClr val="tx1"/>
                </a:solidFill>
              </a:rPr>
              <a:t>Better iron coverage: </a:t>
            </a:r>
            <a:r>
              <a:rPr lang="en-US" sz="1600" dirty="0">
                <a:solidFill>
                  <a:schemeClr val="tx1"/>
                </a:solidFill>
              </a:rPr>
              <a:t>closing the gap between the poorest (10.8%) and richest (28.5%) homes.</a:t>
            </a:r>
            <a:endParaRPr lang="en-US" sz="1600" dirty="0"/>
          </a:p>
          <a:p>
            <a:pPr marL="342900" indent="-342900">
              <a:spcAft>
                <a:spcPts val="1000"/>
              </a:spcAft>
              <a:buSzPct val="100000"/>
              <a:buChar char="•"/>
            </a:pPr>
            <a:r>
              <a:rPr lang="en-US" sz="1600" b="1" dirty="0">
                <a:solidFill>
                  <a:schemeClr val="tx1"/>
                </a:solidFill>
              </a:rPr>
              <a:t>Better targeting: </a:t>
            </a:r>
            <a:r>
              <a:rPr lang="en-US" sz="1600" dirty="0">
                <a:solidFill>
                  <a:schemeClr val="tx1"/>
                </a:solidFill>
              </a:rPr>
              <a:t>programmes focus on the households with the most cases.</a:t>
            </a:r>
            <a:endParaRPr lang="en-US" sz="1600" dirty="0"/>
          </a:p>
        </p:txBody>
      </p:sp>
      <p:sp>
        <p:nvSpPr>
          <p:cNvPr id="4" name="Text 2"/>
          <p:cNvSpPr txBox="1"/>
          <p:nvPr/>
        </p:nvSpPr>
        <p:spPr>
          <a:xfrm>
            <a:off x="548640" y="4526280"/>
            <a:ext cx="7772400" cy="365760"/>
          </a:xfrm>
          <a:prstGeom prst="rect">
            <a:avLst/>
          </a:prstGeom>
          <a:noFill/>
          <a:ln/>
        </p:spPr>
        <p:txBody>
          <a:bodyPr wrap="square" lIns="0" tIns="0" rIns="0" bIns="0" rtlCol="0" anchor="ctr"/>
          <a:lstStyle/>
          <a:p>
            <a:pPr marL="0" indent="0">
              <a:buNone/>
            </a:pPr>
            <a:r>
              <a:rPr lang="en-US" sz="1100" i="1" dirty="0">
                <a:solidFill>
                  <a:schemeClr val="tx1"/>
                </a:solidFill>
              </a:rPr>
              <a:t>Expected impact only. It has not been measured.</a:t>
            </a:r>
            <a:endParaRPr lang="en-US" sz="11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1"/>
                </a:solidFill>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0" y="0"/>
            <a:ext cx="6858000" cy="0"/>
          </a:xfrm>
          <a:prstGeom prst="rect">
            <a:avLst/>
          </a:prstGeom>
          <a:noFill/>
          <a:ln/>
        </p:spPr>
        <p:txBody>
          <a:bodyPr wrap="square" rtlCol="0"/>
          <a:lstStyle/>
          <a:p>
            <a:pPr marL="0" indent="0">
              <a:buNone/>
            </a:pPr>
            <a:r>
              <a:rPr lang="en-US" dirty="0"/>
              <a:t>Challenges &amp; Solutions</a:t>
            </a:r>
          </a:p>
        </p:txBody>
      </p:sp>
      <p:sp>
        <p:nvSpPr>
          <p:cNvPr id="3" name="Text 1"/>
          <p:cNvSpPr txBox="1"/>
          <p:nvPr/>
        </p:nvSpPr>
        <p:spPr>
          <a:xfrm>
            <a:off x="548640" y="1188720"/>
            <a:ext cx="8046720" cy="3383280"/>
          </a:xfrm>
          <a:prstGeom prst="rect">
            <a:avLst/>
          </a:prstGeom>
          <a:noFill/>
          <a:ln/>
        </p:spPr>
        <p:txBody>
          <a:bodyPr wrap="square" lIns="0" tIns="0" rIns="0" bIns="0" rtlCol="0" anchor="t"/>
          <a:lstStyle/>
          <a:p>
            <a:pPr marL="342900" indent="-342900">
              <a:spcAft>
                <a:spcPts val="1000"/>
              </a:spcAft>
              <a:buSzPct val="100000"/>
              <a:buChar char="•"/>
            </a:pPr>
            <a:r>
              <a:rPr lang="en-US" sz="1600" b="1" dirty="0">
                <a:solidFill>
                  <a:schemeClr val="tx1"/>
                </a:solidFill>
              </a:rPr>
              <a:t>Two anemia sets in one file: </a:t>
            </a:r>
            <a:r>
              <a:rPr lang="en-US" sz="1600" dirty="0">
                <a:solidFill>
                  <a:schemeClr val="tx1"/>
                </a:solidFill>
              </a:rPr>
              <a:t>used the woman’s columns and removed the child’s.</a:t>
            </a:r>
            <a:endParaRPr lang="en-US" sz="1600" dirty="0"/>
          </a:p>
          <a:p>
            <a:pPr marL="342900" indent="-342900">
              <a:spcAft>
                <a:spcPts val="1000"/>
              </a:spcAft>
              <a:buSzPct val="100000"/>
              <a:buChar char="•"/>
            </a:pPr>
            <a:r>
              <a:rPr lang="en-US" sz="1600" b="1" dirty="0">
                <a:solidFill>
                  <a:schemeClr val="tx1"/>
                </a:solidFill>
              </a:rPr>
              <a:t>Only anemic women in the data: </a:t>
            </a:r>
            <a:r>
              <a:rPr lang="en-US" sz="1600" dirty="0">
                <a:solidFill>
                  <a:schemeClr val="tx1"/>
                </a:solidFill>
              </a:rPr>
              <a:t>findings describe who the cases are, not rates.</a:t>
            </a:r>
            <a:endParaRPr lang="en-US" sz="1600" dirty="0"/>
          </a:p>
          <a:p>
            <a:pPr marL="342900" indent="-342900">
              <a:spcAft>
                <a:spcPts val="1000"/>
              </a:spcAft>
              <a:buSzPct val="100000"/>
              <a:buChar char="•"/>
            </a:pPr>
            <a:r>
              <a:rPr lang="en-US" sz="1600" b="1" dirty="0">
                <a:solidFill>
                  <a:schemeClr val="tx1"/>
                </a:solidFill>
              </a:rPr>
              <a:t>Many columns in one file: </a:t>
            </a:r>
            <a:r>
              <a:rPr lang="en-US" sz="1600" dirty="0">
                <a:solidFill>
                  <a:schemeClr val="tx1"/>
                </a:solidFill>
              </a:rPr>
              <a:t>kept the 12 columns needed for the analysis.</a:t>
            </a:r>
            <a:endParaRPr lang="en-US" sz="1600" dirty="0"/>
          </a:p>
          <a:p>
            <a:pPr marL="342900" indent="-342900">
              <a:spcAft>
                <a:spcPts val="1000"/>
              </a:spcAft>
              <a:buSzPct val="100000"/>
              <a:buChar char="•"/>
            </a:pPr>
            <a:r>
              <a:rPr lang="en-US" sz="1600" b="1" dirty="0">
                <a:solidFill>
                  <a:schemeClr val="tx1"/>
                </a:solidFill>
              </a:rPr>
              <a:t>Survey terms: </a:t>
            </a:r>
            <a:r>
              <a:rPr lang="en-US" sz="1600" dirty="0">
                <a:solidFill>
                  <a:schemeClr val="tx1"/>
                </a:solidFill>
              </a:rPr>
              <a:t>raw data is not published, only results.</a:t>
            </a:r>
            <a:endParaRPr lang="en-US" sz="16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1"/>
                </a:solidFill>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0" y="0"/>
            <a:ext cx="6858000" cy="0"/>
          </a:xfrm>
          <a:prstGeom prst="rect">
            <a:avLst/>
          </a:prstGeom>
          <a:noFill/>
          <a:ln/>
        </p:spPr>
        <p:txBody>
          <a:bodyPr wrap="square" rtlCol="0"/>
          <a:lstStyle/>
          <a:p>
            <a:pPr marL="0" indent="0">
              <a:buNone/>
            </a:pPr>
            <a:r>
              <a:rPr lang="en-US" dirty="0"/>
              <a:t>Conclusion</a:t>
            </a:r>
          </a:p>
        </p:txBody>
      </p:sp>
      <p:sp>
        <p:nvSpPr>
          <p:cNvPr id="3" name="Text 1"/>
          <p:cNvSpPr txBox="1"/>
          <p:nvPr/>
        </p:nvSpPr>
        <p:spPr>
          <a:xfrm>
            <a:off x="548640" y="1188720"/>
            <a:ext cx="8046720" cy="3383280"/>
          </a:xfrm>
          <a:prstGeom prst="rect">
            <a:avLst/>
          </a:prstGeom>
          <a:noFill/>
          <a:ln/>
        </p:spPr>
        <p:txBody>
          <a:bodyPr wrap="square" lIns="0" tIns="0" rIns="0" bIns="0" rtlCol="0" anchor="t"/>
          <a:lstStyle/>
          <a:p>
            <a:pPr marL="342900" indent="-342900">
              <a:spcAft>
                <a:spcPts val="1000"/>
              </a:spcAft>
              <a:buSzPct val="100000"/>
              <a:buChar char="•"/>
            </a:pPr>
            <a:r>
              <a:rPr lang="en-US" sz="1600" b="1" dirty="0">
                <a:solidFill>
                  <a:schemeClr val="tx1"/>
                </a:solidFill>
              </a:rPr>
              <a:t>Key message: </a:t>
            </a:r>
            <a:r>
              <a:rPr lang="en-US" sz="1600" dirty="0">
                <a:solidFill>
                  <a:schemeClr val="tx1"/>
                </a:solidFill>
              </a:rPr>
              <a:t>anemia is not linked to one factor. The most cases are in rural, low-income homes with low iron use and women with little schooling.</a:t>
            </a:r>
            <a:endParaRPr lang="en-US" sz="1600" dirty="0"/>
          </a:p>
          <a:p>
            <a:pPr marL="342900" indent="-342900">
              <a:spcAft>
                <a:spcPts val="1000"/>
              </a:spcAft>
              <a:buSzPct val="100000"/>
              <a:buChar char="•"/>
            </a:pPr>
            <a:r>
              <a:rPr lang="en-US" sz="1600" b="1" dirty="0">
                <a:solidFill>
                  <a:schemeClr val="tx1"/>
                </a:solidFill>
              </a:rPr>
              <a:t>Next step: </a:t>
            </a:r>
            <a:r>
              <a:rPr lang="en-US" sz="1600" dirty="0">
                <a:solidFill>
                  <a:schemeClr val="tx1"/>
                </a:solidFill>
              </a:rPr>
              <a:t>a combined approach of iron access, community health workers and simple communication.</a:t>
            </a:r>
            <a:endParaRPr lang="en-US" sz="16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1"/>
                </a:solidFill>
              </a:defRPr>
            </a:lvl1pPr>
          </a:lstStyle>
          <a:p>
            <a:pPr algn="l"/>
            <a:fld id="{F7021451-1387-4CA6-816F-3879F97B5CBC}" type="slidenum">
              <a:rPr lang="en-US" b="0"/>
              <a:t>10</a:t>
            </a:fld>
            <a:endParaRPr lang="en-US"/>
          </a:p>
        </p:txBody>
      </p:sp>
    </p:spTree>
  </p:cSld>
  <p:clrMapOvr>
    <a:masterClrMapping/>
  </p:clrMapOvr>
</p:sld>
</file>

<file path=ppt/theme/theme1.xml><?xml version="1.0" encoding="utf-8"?>
<a:theme xmlns:a="http://schemas.openxmlformats.org/drawingml/2006/main" name="Anaemia Case Study">
  <a:themeElements>
    <a:clrScheme name="Anaemia Case Study">
      <a:dk1>
        <a:srgbClr val="1F2937"/>
      </a:dk1>
      <a:lt1>
        <a:srgbClr val="FFFFFF"/>
      </a:lt1>
      <a:dk2>
        <a:srgbClr val="7A1020"/>
      </a:dk2>
      <a:lt2>
        <a:srgbClr val="F5F1EE"/>
      </a:lt2>
      <a:accent1>
        <a:srgbClr val="8B1A2B"/>
      </a:accent1>
      <a:accent2>
        <a:srgbClr val="1E88E5"/>
      </a:accent2>
      <a:accent3>
        <a:srgbClr val="C98A1B"/>
      </a:accent3>
      <a:accent4>
        <a:srgbClr val="2E7D5B"/>
      </a:accent4>
      <a:accent5>
        <a:srgbClr val="5B6B7F"/>
      </a:accent5>
      <a:accent6>
        <a:srgbClr val="B0B8C4"/>
      </a:accent6>
      <a:hlink>
        <a:srgbClr val="1E88E5"/>
      </a:hlink>
      <a:folHlink>
        <a:srgbClr val="7A1020"/>
      </a:folHlink>
    </a:clrScheme>
    <a:fontScheme name="Anaemia Case Study">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627</Words>
  <Application>Microsoft Office PowerPoint</Application>
  <PresentationFormat>On-screen Show (16:9)</PresentationFormat>
  <Paragraphs>74</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Anaemia Case Study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Women's Anemia in Nigeria: Case Study</dc:title>
  <dc:subject>PptxGenJS Presentation</dc:subject>
  <dc:creator>Orherime Betty Ejakpovi</dc:creator>
  <cp:lastModifiedBy>Oladmeji Salami</cp:lastModifiedBy>
  <cp:revision>2</cp:revision>
  <dcterms:created xsi:type="dcterms:W3CDTF">2026-10-15T20:17:27Z</dcterms:created>
  <dcterms:modified xsi:type="dcterms:W3CDTF">2026-10-17T07:00:32Z</dcterms:modified>
</cp:coreProperties>
</file>